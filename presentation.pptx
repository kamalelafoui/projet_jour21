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76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AI in Education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2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de l'agent EduMind - Atelier pratique, Jour 21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EL AFOUI</a:t>
            </a:r>
            <a:endParaRPr lang="en-US" sz="1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D56DEE7-9B76-EB71-B7AC-50EBA300E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16" y="2011680"/>
            <a:ext cx="889589" cy="889589"/>
          </a:xfrm>
          <a:prstGeom prst="rect">
            <a:avLst/>
          </a:prstGeom>
        </p:spPr>
      </p:pic>
      <p:pic>
        <p:nvPicPr>
          <p:cNvPr id="8" name="logo-1">
            <a:extLst>
              <a:ext uri="{FF2B5EF4-FFF2-40B4-BE49-F238E27FC236}">
                <a16:creationId xmlns:a16="http://schemas.microsoft.com/office/drawing/2014/main" id="{1BABBCFE-5A23-6209-A0AC-9DE055856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09" y="318089"/>
            <a:ext cx="1163973" cy="1192220"/>
          </a:xfrm>
          <a:prstGeom prst="rect">
            <a:avLst/>
          </a:prstGeom>
        </p:spPr>
      </p:pic>
      <p:pic>
        <p:nvPicPr>
          <p:cNvPr id="9" name="logo-2">
            <a:extLst>
              <a:ext uri="{FF2B5EF4-FFF2-40B4-BE49-F238E27FC236}">
                <a16:creationId xmlns:a16="http://schemas.microsoft.com/office/drawing/2014/main" id="{900291F1-E6DA-849C-C82C-9AEEC01680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146" y="434137"/>
            <a:ext cx="2000921" cy="1097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64F"/>
          </a:solidFill>
          <a:ln w="12700">
            <a:solidFill>
              <a:srgbClr val="102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rendre l'agent observable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- Jour 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3017520"/>
          </a:xfrm>
          <a:prstGeom prst="rect">
            <a:avLst/>
          </a:prstGeom>
          <a:solidFill>
            <a:srgbClr val="2A6FC3"/>
          </a:solidFill>
          <a:ln w="12700">
            <a:solidFill>
              <a:srgbClr val="2A6FC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d'outils, durée de chaque étape, tokens et coût par appel LLM.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691640"/>
            <a:ext cx="82296" cy="3017520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240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succès, latence moyenne et p95, coût total et moyen.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691640"/>
            <a:ext cx="82296" cy="3017520"/>
          </a:xfrm>
          <a:prstGeom prst="rect">
            <a:avLst/>
          </a:prstGeom>
          <a:solidFill>
            <a:srgbClr val="1A9D5C"/>
          </a:solidFill>
          <a:ln w="12700">
            <a:solidFill>
              <a:srgbClr val="1A9D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240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complet d'une requête grâce au correlation_id unique (REQ-xxxxxx).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: suivre l'activité en temps réel dans un dashboard de supervision et réagir vite grâce à 3 alertes.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64F"/>
          </a:solidFill>
          <a:ln w="12700">
            <a:solidFill>
              <a:srgbClr val="102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- Jour 21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traverse l'agent avec son correlation_id ; l'observabilité alimente le dashboard.</a:t>
            </a:r>
            <a:endParaRPr lang="en-US"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F3B23EE-DE5F-9BB5-A7FC-0052BD9AC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88480"/>
            <a:ext cx="11222182" cy="4489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64F"/>
          </a:solidFill>
          <a:ln w="12700">
            <a:solidFill>
              <a:srgbClr val="102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: quoi mesurer et quoi protéger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- Jour 21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enregistrer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d'outils et résultats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chaque étape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et coût par appel LLM</a:t>
            </a:r>
            <a:endParaRPr lang="en-US" sz="2000" b="1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logger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288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et clés d'API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de carte bancaire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et numéros de téléphone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PII avant écriture :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eleve@ecole.ma devient [EMAIL] ; password: abc123 devient password=[REDACTED]. Le notebook vérifie l'absence de toute donnée personnelle dans logs.jsonl.</a:t>
            </a:r>
            <a:endParaRPr lang="en-US" sz="1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64F"/>
          </a:solidFill>
          <a:ln w="12700">
            <a:solidFill>
              <a:srgbClr val="102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: le correlation_id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- Jour 21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REQ-xxxxxx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 + requête (PII masquée)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REQ-xxxxxx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llm_call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d'intention : tokens, coût, durée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REQ-xxxxxx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search_course / make_quiz : durée, résultat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/ ECHEC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REQ-xxxxxx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llm_call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pédagogique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REQ-xxxxxx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final, latence, coût, erreur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Succès / Échec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utilisateurs en parallèle : le correlation_id isole les logs de chaque requête (onglet Traçabilité du dashboard).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64F"/>
          </a:solidFill>
          <a:ln w="12700">
            <a:solidFill>
              <a:srgbClr val="102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alertes documentées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- Jour 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3566160" cy="109728"/>
          </a:xfrm>
          <a:prstGeom prst="rect">
            <a:avLst/>
          </a:prstGeom>
          <a:solidFill>
            <a:srgbClr val="2A6FC3"/>
          </a:solidFill>
          <a:ln w="12700">
            <a:solidFill>
              <a:srgbClr val="2A6FC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&gt; 5 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Identifier l'outil ou le LLM lent, réduire le contexte.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554480"/>
            <a:ext cx="3566160" cy="109728"/>
          </a:xfrm>
          <a:prstGeom prst="rect">
            <a:avLst/>
          </a:prstGeom>
          <a:solidFill>
            <a:srgbClr val="D93A3A"/>
          </a:solidFill>
          <a:ln w="12700">
            <a:solidFill>
              <a:srgbClr val="D9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d'échec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68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9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20 % des exécutions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832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Filtrer les logs par correlation_id, corriger l'outil fautif.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554480"/>
            <a:ext cx="3566160" cy="109728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468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0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&gt; 0,05 € (budget cumulé)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3832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Détecter une boucle ou un prompt trop long, plafonner les tokens.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64F"/>
          </a:solidFill>
          <a:ln w="12700">
            <a:solidFill>
              <a:srgbClr val="102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la validation (40 requêtes simulées)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- Jour 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échecs sur 40 (seuil 20 %)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4992" y="15544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moyenne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0,13 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5 s : OK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1344" y="15544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cumulé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0,3977 €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0,05 € : ALERTE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97696" y="15544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0576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/ requête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0,0099 €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 (notebook.ipynb) :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uniques, aucune PII dans les logs, trace complète d'une requête, et déclenchement des 3 alertes prouvé sur des jeux de données simulés.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64F"/>
          </a:solidFill>
          <a:ln w="12700">
            <a:solidFill>
              <a:srgbClr val="102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2B731"/>
          </a:solidFill>
          <a:ln w="12700">
            <a:solidFill>
              <a:srgbClr val="F2B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et livrables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- Jour 21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10789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: KPI, graphiques, table d'exécutions, alertes, traçabilité</a:t>
            </a:r>
            <a:endParaRPr lang="en-US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executions.csv : table d'exécutions avec correlation_id</a:t>
            </a:r>
            <a:endParaRPr lang="en-US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et main_langgraph.py : agent instrumenté (script / graphe LangGraph)</a:t>
            </a:r>
            <a:endParaRPr lang="en-US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notebook.ipynb : validation automatique</a:t>
            </a:r>
            <a:endParaRPr lang="en-US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EdTech_kamal_2026_corrige.json : workflow Langflow final</a:t>
            </a:r>
            <a:endParaRPr lang="en-US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documentation.docx et presentation.pptx</a:t>
            </a:r>
            <a:endParaRPr lang="en-US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publié sur GitHub (README.md)</a:t>
            </a:r>
            <a:endParaRPr lang="en-US" sz="2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552</Words>
  <Application>Microsoft Office PowerPoint</Application>
  <PresentationFormat>Grand écran</PresentationFormat>
  <Paragraphs>96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Education - Observabilité EduMind</dc:title>
  <dc:subject>PptxGenJS Presentation</dc:subject>
  <dc:creator>Kamal</dc:creator>
  <cp:lastModifiedBy>Kamal EL AFOUI</cp:lastModifiedBy>
  <cp:revision>2</cp:revision>
  <dcterms:created xsi:type="dcterms:W3CDTF">2026-10-28T12:34:16Z</dcterms:created>
  <dcterms:modified xsi:type="dcterms:W3CDTF">2026-10-28T12:51:59Z</dcterms:modified>
</cp:coreProperties>
</file>